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93f9a07495484b" /><Relationship Type="http://schemas.openxmlformats.org/officeDocument/2006/relationships/extended-properties" Target="/docProps/app.xml" Id="R7b9815d9ae224765" /><Relationship Type="http://schemas.openxmlformats.org/officeDocument/2006/relationships/officeDocument" Target="/ppt/presentation.xml" Id="Rf1d1b1af5d0743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69f43123cb41e0"/>
  </p:sldMasterIdLst>
  <p:notesMasterIdLst>
    <p:notesMasterId xmlns:r="http://schemas.openxmlformats.org/officeDocument/2006/relationships" r:id="Rcaf9be14284b4665"/>
  </p:notesMasterIdLst>
  <p:sldIdLst>
    <p:sldId xmlns:r="http://schemas.openxmlformats.org/officeDocument/2006/relationships" id="256" r:id="Rad8ed849724b4eb1"/>
    <p:sldId xmlns:r="http://schemas.openxmlformats.org/officeDocument/2006/relationships" id="257" r:id="R1b6b5f143c5f499b"/>
    <p:sldId xmlns:r="http://schemas.openxmlformats.org/officeDocument/2006/relationships" id="258" r:id="Rf488993549c5404e"/>
    <p:sldId xmlns:r="http://schemas.openxmlformats.org/officeDocument/2006/relationships" id="259" r:id="R95175d68518347bc"/>
    <p:sldId xmlns:r="http://schemas.openxmlformats.org/officeDocument/2006/relationships" id="260" r:id="Raef6e44ad56b4b43"/>
    <p:sldId xmlns:r="http://schemas.openxmlformats.org/officeDocument/2006/relationships" id="261" r:id="Re22d251429054c25"/>
    <p:sldId xmlns:r="http://schemas.openxmlformats.org/officeDocument/2006/relationships" id="262" r:id="R2c83dcdfec704564"/>
    <p:sldId xmlns:r="http://schemas.openxmlformats.org/officeDocument/2006/relationships" id="263" r:id="R4e47b16943aa488d"/>
    <p:sldId xmlns:r="http://schemas.openxmlformats.org/officeDocument/2006/relationships" id="264" r:id="Rf17863e6c4cf46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7500b19e8e4d5f" /><Relationship Type="http://schemas.openxmlformats.org/officeDocument/2006/relationships/slideMaster" Target="/ppt/slideMasters/slideMaster1.xml" Id="R1569f43123cb41e0" /><Relationship Type="http://schemas.openxmlformats.org/officeDocument/2006/relationships/notesMaster" Target="/ppt/notesMasters/notesMaster1.xml" Id="Rcaf9be14284b4665" /><Relationship Type="http://schemas.openxmlformats.org/officeDocument/2006/relationships/presProps" Target="/ppt/presProps.xml" Id="R0fee5a6724f2443b" /><Relationship Type="http://schemas.openxmlformats.org/officeDocument/2006/relationships/tableStyles" Target="/ppt/tableStyles.xml" Id="R955c452040794fa7" /><Relationship Type="http://schemas.openxmlformats.org/officeDocument/2006/relationships/slide" Target="/ppt/slides/slide1.xml" Id="Rad8ed849724b4eb1" /><Relationship Type="http://schemas.openxmlformats.org/officeDocument/2006/relationships/slide" Target="/ppt/slides/slide2.xml" Id="R1b6b5f143c5f499b" /><Relationship Type="http://schemas.openxmlformats.org/officeDocument/2006/relationships/slide" Target="/ppt/slides/slide3.xml" Id="Rf488993549c5404e" /><Relationship Type="http://schemas.openxmlformats.org/officeDocument/2006/relationships/slide" Target="/ppt/slides/slide4.xml" Id="R95175d68518347bc" /><Relationship Type="http://schemas.openxmlformats.org/officeDocument/2006/relationships/slide" Target="/ppt/slides/slide5.xml" Id="Raef6e44ad56b4b43" /><Relationship Type="http://schemas.openxmlformats.org/officeDocument/2006/relationships/slide" Target="/ppt/slides/slide6.xml" Id="Re22d251429054c25" /><Relationship Type="http://schemas.openxmlformats.org/officeDocument/2006/relationships/slide" Target="/ppt/slides/slide7.xml" Id="R2c83dcdfec704564" /><Relationship Type="http://schemas.openxmlformats.org/officeDocument/2006/relationships/slide" Target="/ppt/slides/slide8.xml" Id="R4e47b16943aa488d" /><Relationship Type="http://schemas.openxmlformats.org/officeDocument/2006/relationships/slide" Target="/ppt/slides/slide9.xml" Id="Rf17863e6c4cf46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5730c9b31649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7868541e5548cb" /><Relationship Type="http://schemas.openxmlformats.org/officeDocument/2006/relationships/notesMaster" Target="/ppt/notesMasters/notesMaster1.xml" Id="R20417c9efb7d48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183757ca6b402d" /><Relationship Type="http://schemas.openxmlformats.org/officeDocument/2006/relationships/notesMaster" Target="/ppt/notesMasters/notesMaster1.xml" Id="R8e7e586ef7ab43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34d1789a814f8f" /><Relationship Type="http://schemas.openxmlformats.org/officeDocument/2006/relationships/notesMaster" Target="/ppt/notesMasters/notesMaster1.xml" Id="R8cd447d1ce0348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4cea9841b34a0e" /><Relationship Type="http://schemas.openxmlformats.org/officeDocument/2006/relationships/notesMaster" Target="/ppt/notesMasters/notesMaster1.xml" Id="Ra789a8c9ee0043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da74a169694f80" /><Relationship Type="http://schemas.openxmlformats.org/officeDocument/2006/relationships/notesMaster" Target="/ppt/notesMasters/notesMaster1.xml" Id="R6a45f0c8349444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cf86073bec46ba" /><Relationship Type="http://schemas.openxmlformats.org/officeDocument/2006/relationships/notesMaster" Target="/ppt/notesMasters/notesMaster1.xml" Id="R07fb5f600a824d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55e3be279f49e9" /><Relationship Type="http://schemas.openxmlformats.org/officeDocument/2006/relationships/notesMaster" Target="/ppt/notesMasters/notesMaster1.xml" Id="Re6e09c781ee54f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4ac4f40ed2401d" /><Relationship Type="http://schemas.openxmlformats.org/officeDocument/2006/relationships/notesMaster" Target="/ppt/notesMasters/notesMaster1.xml" Id="R8a772b7478724b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1a5d7f949a497c" /><Relationship Type="http://schemas.openxmlformats.org/officeDocument/2006/relationships/notesMaster" Target="/ppt/notesMasters/notesMaster1.xml" Id="R63ef8d9031e744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7a6ed02f34d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9093b4e7f64928" /><Relationship Type="http://schemas.openxmlformats.org/officeDocument/2006/relationships/slideLayout" Target="/ppt/slideLayouts/slideLayout1.xml" Id="Rb791e1ca795948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91e1ca795948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536ffa7764a23" /><Relationship Type="http://schemas.openxmlformats.org/officeDocument/2006/relationships/notesSlide" Target="/ppt/notesSlides/notesSlide1.xml" Id="R997abe099d2a41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1a99b55cc48dd" /><Relationship Type="http://schemas.openxmlformats.org/officeDocument/2006/relationships/notesSlide" Target="/ppt/notesSlides/notesSlide2.xml" Id="R74d90ccb4a2845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0984b8ff84f55" /><Relationship Type="http://schemas.openxmlformats.org/officeDocument/2006/relationships/notesSlide" Target="/ppt/notesSlides/notesSlide3.xml" Id="R5b3f76569a8e45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e058b453847ab" /><Relationship Type="http://schemas.openxmlformats.org/officeDocument/2006/relationships/notesSlide" Target="/ppt/notesSlides/notesSlide4.xml" Id="R404cae69ed3d49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0b35ac7474522" /><Relationship Type="http://schemas.openxmlformats.org/officeDocument/2006/relationships/notesSlide" Target="/ppt/notesSlides/notesSlide5.xml" Id="Rdbbe05f402b443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b8d94271b4e99" /><Relationship Type="http://schemas.openxmlformats.org/officeDocument/2006/relationships/notesSlide" Target="/ppt/notesSlides/notesSlide6.xml" Id="R7dac0e3fba0343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42a80be744777" /><Relationship Type="http://schemas.openxmlformats.org/officeDocument/2006/relationships/notesSlide" Target="/ppt/notesSlides/notesSlide7.xml" Id="R51144266fecd48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e3de9296a4368" /><Relationship Type="http://schemas.openxmlformats.org/officeDocument/2006/relationships/notesSlide" Target="/ppt/notesSlides/notesSlide8.xml" Id="R40e6a3d6732949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4f734e01c4f4e" /><Relationship Type="http://schemas.openxmlformats.org/officeDocument/2006/relationships/notesSlide" Target="/ppt/notesSlides/notesSlide9.xml" Id="R25a517097f2e4e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B3D54D-F090-483B-A332-6A165849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87CE8-F75A-4DF5-A153-763ED073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老年人姿态识别系统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9C586-3299-4DB8-A880-8545700D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基于 STM32F103C6T6、ADXL345 与 OneNET 的实时姿态监测方案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5AA99-6F20-4DF7-9B67-0BA44363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98107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D0419-8DCE-44E3-98F3-F4CE5C2B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核心能力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B2097-7C43-44E8-A42C-1B60817D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857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识别正常、疑似跌倒、久坐三类状态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OLED 本地显示，ESP8266 上传 OneNET 云平台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微信小程序查看实时状态、历史记录与手机端提醒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CA3A2-EA10-403C-BBF3-1AFACACD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15240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DF5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AD357-5B55-488B-8AB9-648357F0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5307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嵌入式终端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3C27E-8E35-4CD9-8ACC-72292267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86400"/>
            <a:ext cx="15240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62C39-D469-44BB-AD5A-FE041B35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55307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云端同步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A793D-5DD0-4114-AC07-A1EA73DA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15240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F2C1D-028C-4C13-A876-16A4ACE8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5307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移动看护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651AD-9212-41A4-82A8-2BBE5296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老年人姿态识别系统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38C9A-74FF-473F-84EA-D30B30A9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848077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D3E093-4C57-4480-A217-B0B4CDC4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系统要解决的是无人值守时的姿态风险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0F596-FD93-4AF4-8D24-0A7CCF31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把姿态异常从“事后发现”提前到“实时提醒”。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97F41-3950-4367-BE3D-991AAF15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88528-C128-42F7-B44F-BACF5E87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333750" cy="304800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98C43-3286-40BF-9E48-E08ADCCF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C2626"/>
                </a:solidFill>
              </a:defRPr>
            </a:pPr>
            <a:r>
              <a:rPr sz="1950" b="1">
                <a:solidFill>
                  <a:srgbClr val="DC2626"/>
                </a:solidFill>
              </a:rPr>
              <a:t>场景痛点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05BA1-E668-4C11-BB68-FED27B54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老人独处时跌倒不易及时发现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长时间静坐会增加健康风险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人工看护无法持续盯守状态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CBD4B-1685-4BE9-AE49-69DE8635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81200"/>
            <a:ext cx="3333750" cy="304800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44247-E16E-4F97-B7FA-64C4E2A6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66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设计目标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DDF8F-6583-4098-875F-93D5892E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655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低成本硬件即可完成监测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本地可看，远程也可看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异常状态能触发明确提醒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C5AB2-12DD-4D39-A151-091FD573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333750" cy="304800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EA3F1-5B75-43E2-BC81-FC50003A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评审看点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12BF9-718D-4E1B-B1F2-16CB15C8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7655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传感器数据进入实际判断逻辑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开发板、云平台、小程序链路闭环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演示可重复，状态变化可观察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5435E-0B15-41C8-BBAC-04C58C5B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老年人姿态识别系统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15D92-8B3D-49D5-8300-D89C7EF7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7999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035C6F-7756-4F3E-B26F-BE44FBAF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数据链路从姿态采集一直闭环到手机端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BA136-6F3E-48B8-B997-7C32E248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硬件端负责采集和判定，云端负责同步，小程序负责看护展示。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AC073-131D-4919-A2EA-F6ED6DE6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1C1A4-9E2C-42AD-BEEA-E5D75482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16002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DF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56229-7D00-4C71-A1E9-6F3E0995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ADXL345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D25DA-FD84-4489-8270-E507E915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三轴加速度</a:t>
            </a:r>
          </a:p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姿态变化输入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38CD8-1134-4026-B553-BF4750CE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6472"/>
                </a:solidFill>
              </a:defRPr>
            </a:pPr>
            <a:r>
              <a:rPr sz="225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6B594-F33C-4A60-BF68-CF10A1CD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609850"/>
            <a:ext cx="16002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7B4CE-F9C0-49C7-B466-6DB5BAB3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194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STM32F103C6T6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414FC-C44E-4E1B-A956-EC759866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3850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角度计算</a:t>
            </a:r>
          </a:p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跌倒/久坐判定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D1FDF-D5B2-44F8-8CBA-B86ABE42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86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6472"/>
                </a:solidFill>
              </a:defRPr>
            </a:pPr>
            <a:r>
              <a:rPr sz="225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3D8E0-AE53-498F-98E4-DCFBD513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16002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102DB-425D-4D90-A1A9-04122BB7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194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OLED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B03FB-013C-4EA4-8325-D808F45F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3850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现场状态</a:t>
            </a:r>
          </a:p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角度与静止时间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317A4-D1CF-476F-9ACD-89DAA14C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6472"/>
                </a:solidFill>
              </a:defRPr>
            </a:pPr>
            <a:r>
              <a:rPr sz="225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F3163-CAB1-48C8-A501-D18DDA1C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16002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AFBA8B-1AD0-4451-B38F-561069B5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194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ESP8266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81F2B-68C8-4ED7-8000-FBFCF69D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Wi-Fi 连接</a:t>
            </a:r>
          </a:p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MQTT 上报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96A41F-9C2A-4A82-A78B-722E2B76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86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6472"/>
                </a:solidFill>
              </a:defRPr>
            </a:pPr>
            <a:r>
              <a:rPr sz="225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7182E-C5D4-4B5B-8764-92425F94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09850"/>
            <a:ext cx="16002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4E5E28-7972-496F-A9E4-5424676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194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OneNET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4BEAB7-E8EE-49C7-9E20-2BD61A10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设备属性</a:t>
            </a:r>
          </a:p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Val1 / Val2 / Val3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D3BD1-EBD3-4467-B27A-C53AFC6E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86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6472"/>
                </a:solidFill>
              </a:defRPr>
            </a:pPr>
            <a:r>
              <a:rPr sz="225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5AA5E1-B32C-4AFE-B279-ED479A1B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09850"/>
            <a:ext cx="16002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EE2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CC5065-1D87-4740-B17E-73E5B2AF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194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微信小程序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B90F4D-D0DC-47E4-B92D-91B2448A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23850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实时状态</a:t>
            </a:r>
          </a:p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历史记录与提醒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283DE3-8858-4988-893B-A73AB3FC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实际演示中，开发板通过手机热点连接网络，OneNET 设备属性刷新后，小程序通过 HTTPS 查询并显示状态。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363BCD-7FEF-4EA0-945B-5D56C5CA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老年人姿态识别系统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E617E8-818D-446A-8890-B7CE6FD7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152318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F15ED3-CFEE-46B9-8548-7DB00D45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硬件选型围绕“可穿戴、可联网、可现场观察”展开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25FEA-3D87-4CC6-B410-EB2326B8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核心硬件已经能支撑比赛现场的完整功能演示。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AFE81-C3AE-492E-A28B-D921FB21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8AC28-B910-41FD-B2EC-41B5F9F0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3812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342A7-10BA-4D4D-B20B-08BBBF65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766E"/>
                </a:solidFill>
              </a:defRPr>
            </a:pPr>
            <a:r>
              <a:rPr sz="3000" b="1">
                <a:solidFill>
                  <a:srgbClr val="0F766E"/>
                </a:solidFill>
              </a:rPr>
              <a:t>STM32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2F41A-ED3B-40EA-8317-5A3C205C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F103C6T6 主控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2EB9A-77CA-45EA-9830-6F7A7DA0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57400"/>
            <a:ext cx="23812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66E2D-5513-409B-94F5-3A1ABDAF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66950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63EB"/>
                </a:solidFill>
              </a:defRPr>
            </a:pPr>
            <a:r>
              <a:rPr sz="3000" b="1">
                <a:solidFill>
                  <a:srgbClr val="2563EB"/>
                </a:solidFill>
              </a:rPr>
              <a:t>ADXL345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1F43F-2059-4D07-98BD-0B2DFF50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三轴加速度传感器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FEB4F-8368-4999-96B0-13516BBB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23812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ABC46-1F8E-4E6A-86BA-E79F6B6B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97706"/>
                </a:solidFill>
              </a:defRPr>
            </a:pPr>
            <a:r>
              <a:rPr sz="3000" b="1">
                <a:solidFill>
                  <a:srgbClr val="D97706"/>
                </a:solidFill>
              </a:rPr>
              <a:t>ESP8266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F4C93-9DC4-4C9D-88AA-3035B073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Wi-Fi / MQTT 通信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2A26E-3798-4501-87B4-312348C0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57400"/>
            <a:ext cx="23812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34C86-52A2-48F3-8F2E-15088D7A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C2626"/>
                </a:solidFill>
              </a:defRPr>
            </a:pPr>
            <a:r>
              <a:rPr sz="3000" b="1">
                <a:solidFill>
                  <a:srgbClr val="DC2626"/>
                </a:solidFill>
              </a:rPr>
              <a:t>OLED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C5CC2-DD57-48A6-8B5B-F4D06BF2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003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本地状态显示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DF6EF-3279-4B4B-BAA3-B12E2BA4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4965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296E0-0885-41AF-947D-4DC5E6A8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可扩展硬件接口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0C41E-7F6B-4F82-BEBE-98BC3344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• LED 状态灯：用颜色区分正常、跌倒、久坐，最适合现场展示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• 按键确认：异常发生后由看护者确认处理，和小程序“确认处理”功能呼应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• SIM900 / GPS / 语音模块：作为后续扩展方向，不影响当前核心链路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9263EC-35D8-40DC-BC91-7D00E9B3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老年人姿态识别系统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F9B0B9-D240-48A5-8556-2D53A2D0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95549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77F222-BF6F-4190-A391-E6113E69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姿态识别逻辑用阈值法实现，便于解释和现场复现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390BD-8B54-4D73-A2B5-A403F21A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算法重点是把传感器原始变化转成明确的状态码。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7BC2D-03C2-47C8-ADD0-5612E49B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49EA2-1243-4008-A170-2A39FE29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048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CCDE4-5B74-4003-BBB6-7C817EE3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输入数据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00D00-68E8-4BEA-BCB4-65199007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228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读取 X / Y / Z 三轴数据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将 ADXL345 数据转为有符号值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根据 Z 轴估算姿态角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4FDC9-B1EC-4EE9-B1F0-21665787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48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10731-0130-41F9-85E9-B60BB77E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62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核心阈值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37FEC-B6E1-4658-B147-327A0895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33700"/>
            <a:ext cx="228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角度 &lt; 50：疑似跌倒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静止时间 &gt; 20 秒：久坐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三轴变化量 &gt; 25：计时清零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E8E54-AFB2-4C4E-BAA5-5F9FBC8D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048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5F9E0-AEF4-4B58-AE0F-E9292A47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62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C2626"/>
                </a:solidFill>
              </a:defRPr>
            </a:pPr>
            <a:r>
              <a:rPr sz="1950" b="1">
                <a:solidFill>
                  <a:srgbClr val="DC2626"/>
                </a:solidFill>
              </a:rPr>
              <a:t>输出状态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87328-16B0-4BC4-B594-642BB6AB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33700"/>
            <a:ext cx="228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0：状态正常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1：疑似跌倒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2：久坐提醒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B9709-B229-4A5E-92D8-29AFA558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14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6472"/>
                </a:solidFill>
              </a:defRPr>
            </a:pPr>
            <a:r>
              <a:rPr sz="225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F2225-6C98-4933-A013-61AB40EE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14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6472"/>
                </a:solidFill>
              </a:defRPr>
            </a:pPr>
            <a:r>
              <a:rPr sz="225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8B388-00CE-4AC6-A545-D8633F33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老年人姿态识别系统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9ABFF-E227-4560-BC6F-6869C6A9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734214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448A8B-83DC-4B03-BCD5-38951223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小程序把云端属性转成看护者能直接理解的状态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6E8D7-C551-4F6F-9C2F-5C665B67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当前链路已经通过开发板、热点、OneNET 和手机端完成联通验证。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329BA-41A9-4544-B6D6-49146EE0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C1437-D1EA-4C27-AFFC-0DAAA099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8577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7CE80-F14F-4B5A-B3A1-9BCAC387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云端属性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FF0A6-9727-4CBC-98AD-8D43C61F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Val1：姿态状态码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Val2：姿态角度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Val3：静止时间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MQTT 上报，HTTPS 查询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990C0-E9A5-4859-8DA3-4CC722A1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小程序轮询间隔设置为 1 秒，并加入 5 秒请求超时，避免请求堆积。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26898-D2A7-470B-A4A4-37CA3C45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8577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E18A4-1F80-4B4F-B05C-EE154F88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移动端功能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5619A-6AF4-44D3-AB28-20E10DB4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14650"/>
            <a:ext cx="3714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首页显示当前状态、风险等级和护理建议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疑似跌倒触发手机振动和弹窗提醒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历史记录页保存最近状态变化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支持模拟通知家属与确认处理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82200-C682-4805-806D-F769F444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老年人姿态识别系统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99120-2118-44DD-B7B2-BD44CEA8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281468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9848D6-E7EC-46A2-93B4-571827FE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重点代码库按评审关注点整理，能快速定位核心实现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B3F6E-8A23-4563-BC31-2BFB9094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提交包保留源码、工程配置、原理图和可烧录 hex。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0C439-3F32-466A-8471-1B994670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A0B8C-1FB5-4A16-95BD-B472D20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668000" cy="3295650"/>
          </a:xfrm>
          <a:prstGeom xmlns:a="http://schemas.openxmlformats.org/drawingml/2006/main" prst="roundRect">
            <a:avLst>
              <a:gd name="adj" fmla="val 17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31432-83BB-40C9-BFEB-A35BA38C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024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9CE34-B26A-45C0-9DF2-22C9ED4C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</a:defRPr>
            </a:pPr>
            <a:r>
              <a:rPr sz="1350" b="1">
                <a:solidFill>
                  <a:srgbClr val="334155"/>
                </a:solidFill>
              </a:rPr>
              <a:t>STM32程序/User/main.c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720F1-BD40-4962-A20B-94F280E7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05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主流程、姿态判定、OLED 显示、云端上传调度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F42DF-6498-4E88-9BB7-09277B35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</a:defRPr>
            </a:pPr>
            <a:r>
              <a:rPr sz="1350" b="1">
                <a:solidFill>
                  <a:srgbClr val="334155"/>
                </a:solidFill>
              </a:rPr>
              <a:t>User_Libraries/ADXL345.c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5062E-CC0F-4EBA-A713-B6C6B53C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软件 I2C、寄存器配置、三轴数据读取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437C5-3AFB-4D77-8285-467ED11C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1024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87A2B-1335-4031-AEFC-EC7F3EF0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</a:defRPr>
            </a:pPr>
            <a:r>
              <a:rPr sz="1350" b="1">
                <a:solidFill>
                  <a:srgbClr val="334155"/>
                </a:solidFill>
              </a:rPr>
              <a:t>user_esp8266_OneNetMQTT.c/.h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38332-23C3-413F-9DF7-1CB989D9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194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Wi-Fi、MQTT、OneNET 产品与设备参数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2214B-CBB9-4A65-98AF-F2148D3D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</a:defRPr>
            </a:pPr>
            <a:r>
              <a:rPr sz="1350" b="1">
                <a:solidFill>
                  <a:srgbClr val="334155"/>
                </a:solidFill>
              </a:rPr>
              <a:t>微信小程序/pages/index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396C4-4591-4772-AB23-D8DFD354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实时状态、刷新、报警提醒、历史记录入口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81AA8-9901-4800-A195-A0AA79AA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024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5615E-3967-4D39-ACCB-120D419B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</a:defRPr>
            </a:pPr>
            <a:r>
              <a:rPr sz="1350" b="1">
                <a:solidFill>
                  <a:srgbClr val="334155"/>
                </a:solidFill>
              </a:rPr>
              <a:t>微信小程序/pages/history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3896E-2018-4EAF-99DA-EDFB0AF5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3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独立历史记录页与统计摘要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64071-CB36-4600-BB75-4B66ABDE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</a:defRPr>
            </a:pPr>
            <a:r>
              <a:rPr sz="1350" b="1">
                <a:solidFill>
                  <a:srgbClr val="334155"/>
                </a:solidFill>
              </a:rPr>
              <a:t>Project/Template.hex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08B13-28E5-4123-A3B8-20813ACD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91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当前编译生成的烧录文件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07900-27A1-484D-8C02-0FDAEC1C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老年人姿态识别系统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465CEE-4439-49F2-88B8-22C248DA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077316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CED261-A00C-4E0E-8C48-457FAF99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演示视频按六个场景展开，重点拍实物状态变化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7EFDE-86AF-434C-B65B-E11C1D04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建议总时长控制在 2 分 40 秒到 3 分钟。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DA495-2090-4C39-A978-B21C824B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4C55D-2AE9-45F5-96BB-5E0D4A49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333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E2D26-D546-4B0B-9CC5-8A48542E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F766E"/>
                </a:solidFill>
              </a:defRPr>
            </a:pPr>
            <a:r>
              <a:rPr sz="2850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A27D7-5AD7-4B80-9AEA-A7A3C7AA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24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开场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64FCF-B2B2-4BA1-BEC0-DD2E75EA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05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展示开发板、传感器、OLED 与小程序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845E4-E9D6-451F-A8A9-C42FF288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14550"/>
            <a:ext cx="3333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BC671-8976-42BB-8FC2-7DD4054F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62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563EB"/>
                </a:solidFill>
              </a:defRPr>
            </a:pPr>
            <a:r>
              <a:rPr sz="28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A5B01-2E8A-4F6D-853A-7688608D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24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正常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239B3-035C-4283-A71F-832DF21A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05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设备平放，OLED 与小程序显示状态正常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089E7-075D-483D-BA94-33AD7851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3333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B1FAE-67DA-481C-8A03-CE918EF9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C2626"/>
                </a:solidFill>
              </a:defRPr>
            </a:pPr>
            <a:r>
              <a:rPr sz="2850" b="1">
                <a:solidFill>
                  <a:srgbClr val="DC2626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C9F84-82F2-4E7C-9E45-6A2F83B9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24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跌倒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9EEDE-9096-4F4A-8275-45B49773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05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转动设备，触发 FALL 与手机端告警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9E966-209B-4546-B5F2-6762A180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333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96E3D-0C84-4AD8-9F08-368F2680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97706"/>
                </a:solidFill>
              </a:defRPr>
            </a:pPr>
            <a:r>
              <a:rPr sz="2850" b="1">
                <a:solidFill>
                  <a:srgbClr val="D97706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446A72-A089-490B-B23E-A6F46FFF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71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久坐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E9E655-2370-4F1E-80E7-9BAF34D7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529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静止超过 20 秒，显示 SIT 与久坐提醒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F69AE-B255-477A-8056-2DBDEC6E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3333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EE666-B394-4D93-852C-B82C8285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10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34155"/>
                </a:solidFill>
              </a:defRPr>
            </a:pPr>
            <a:r>
              <a:rPr sz="2850" b="1">
                <a:solidFill>
                  <a:srgbClr val="334155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37D55D-52D5-452B-B7FA-8EC84017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71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恢复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B0FF38-F9A4-4CCD-9D36-DA34E518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529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轻微移动设备，静止时间清零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8B67B-86E9-41A0-B973-68A41D0B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3333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A45BE-73DD-46CE-A9A7-75A7FF35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10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F766E"/>
                </a:solidFill>
              </a:defRPr>
            </a:pPr>
            <a:r>
              <a:rPr sz="2850" b="1">
                <a:solidFill>
                  <a:srgbClr val="0F766E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2A8C23-C109-4FDB-84ED-5B2D11C7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71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历史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CDF152-7543-4F02-B70F-28B312E0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529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打开历史记录页，展示最近状态变化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A5978B-88B6-46B7-9B70-D686F209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老年人姿态识别系统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2A444C-4DA0-46FD-8871-88BE04D8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087585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30673F-1590-4C93-BDB7-3AC3AC61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提交材料已经形成完整闭环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667E7-0661-473A-8B3F-2AAA6513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技术说明、代码、演示视频分别对应“讲清楚、能复现、看得见”。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6862A-04E5-4A0B-8584-AD8FC209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1DF52-42B9-4743-B49C-547CB259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9527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DF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D7715-BBE8-48F9-94C2-4A9D0A9F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技术文档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B3863-0068-4AEB-A07C-5D7293A8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说明系统背景、硬件组成、软件流程、测试方法和应用价值。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FAB40-1D4E-4B1F-BAD7-EB38C1B5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95500"/>
            <a:ext cx="29527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C735B-4410-420A-82BA-2DE3303A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重点代码包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AEF9E-C34E-46F4-B33D-D66A0648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990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保留 STM32 工程、小程序、原理图、hex 和代码说明，便于评审复核。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56402-6635-4731-9A76-58FAE024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29527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D273A-842F-484F-AB63-D62516B5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7706"/>
                </a:solidFill>
              </a:defRPr>
            </a:pPr>
            <a:r>
              <a:rPr sz="2100" b="1">
                <a:solidFill>
                  <a:srgbClr val="D97706"/>
                </a:solidFill>
              </a:rPr>
              <a:t>功能演示视频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61F04-F3E1-47B9-B709-1EA72096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用正常、跌倒、久坐、恢复、历史记录展示完整功能链路。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4CB67-DA0A-42FC-80E3-06490BAF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结论：本系统已实现“姿态采集 → 本地识别 → 云端同步 → 小程序看护”的闭环演示。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983C7-B9F8-4131-9C25-5D8FE375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老年人姿态识别系统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2C01EF-FE9B-438F-A698-95338688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26580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2026-07-06T13:16:45.1000000Z</dcterms:created>
  <dcterms:modified xsi:type="dcterms:W3CDTF">2026-07-06T13:16:45.1000000Z</dcterms:modified>
</coreProperties>
</file>